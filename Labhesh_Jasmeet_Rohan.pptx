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22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asmeetjeya/ICU-Bed-Assignment-Optimizer-Using-Hybrid-GA-Fuzzy-XAI/setting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FF0000"/>
                </a:solidFill>
                <a:latin typeface="Times New Roman"/>
              </a:defRPr>
            </a:pPr>
            <a:r>
              <a:rPr dirty="0"/>
              <a:t>ICU Bed Assignment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199"/>
            <a:ext cx="6400800" cy="2434281"/>
          </a:xfrm>
        </p:spPr>
        <p:txBody>
          <a:bodyPr>
            <a:normAutofit fontScale="85000" lnSpcReduction="20000"/>
          </a:bodyPr>
          <a:lstStyle/>
          <a:p>
            <a:pPr>
              <a:defRPr>
                <a:latin typeface="Times New Roman"/>
              </a:defRPr>
            </a:pPr>
            <a:r>
              <a:rPr lang="en-IN" dirty="0"/>
              <a:t>Project Overview</a:t>
            </a:r>
          </a:p>
          <a:p>
            <a:pPr>
              <a:lnSpc>
                <a:spcPct val="170000"/>
              </a:lnSpc>
              <a:defRPr>
                <a:latin typeface="Times New Roman"/>
              </a:defRPr>
            </a:pPr>
            <a:r>
              <a:rPr lang="en-IN" b="1" dirty="0"/>
              <a:t>Rohan R </a:t>
            </a:r>
            <a:r>
              <a:rPr lang="en-IN" b="1" dirty="0" err="1"/>
              <a:t>Gadgimata</a:t>
            </a:r>
            <a:r>
              <a:rPr lang="en-IN" b="1" dirty="0"/>
              <a:t> (12518040)</a:t>
            </a:r>
            <a:br>
              <a:rPr lang="en-IN" dirty="0"/>
            </a:br>
            <a:r>
              <a:rPr lang="en-IN" b="1" dirty="0" err="1"/>
              <a:t>Labhesh</a:t>
            </a:r>
            <a:r>
              <a:rPr lang="en-IN" b="1" dirty="0"/>
              <a:t> </a:t>
            </a:r>
            <a:r>
              <a:rPr lang="en-IN" b="1" dirty="0" err="1"/>
              <a:t>Phull</a:t>
            </a:r>
            <a:r>
              <a:rPr lang="en-IN" b="1" dirty="0"/>
              <a:t> (12520009)</a:t>
            </a:r>
            <a:br>
              <a:rPr lang="en-IN" dirty="0"/>
            </a:br>
            <a:r>
              <a:rPr lang="en-IN" b="1" dirty="0"/>
              <a:t>Jasmeet Kaur (12520018)</a:t>
            </a:r>
          </a:p>
          <a:p>
            <a:pPr>
              <a:lnSpc>
                <a:spcPct val="170000"/>
              </a:lnSpc>
              <a:defRPr>
                <a:latin typeface="Times New Roman"/>
              </a:defRPr>
            </a:pPr>
            <a:endParaRPr lang="en-IN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5220B6-16B8-6FA7-B650-66BA744C468C}"/>
              </a:ext>
            </a:extLst>
          </p:cNvPr>
          <p:cNvSpPr txBox="1"/>
          <p:nvPr/>
        </p:nvSpPr>
        <p:spPr>
          <a:xfrm>
            <a:off x="568411" y="6314301"/>
            <a:ext cx="80071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https://github.com/jasmeetjeya/ICU-Bed-Assignment-Optimizer-Using-Hybrid-GA-Fuzzy-XAI/settings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1. Problem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lvl="1">
              <a:defRPr sz="2400">
                <a:latin typeface="Times New Roman"/>
              </a:defRPr>
            </a:pPr>
            <a:r>
              <a:rPr dirty="0"/>
              <a:t>Competition brief: Cognitive </a:t>
            </a:r>
            <a:r>
              <a:rPr dirty="0" err="1"/>
              <a:t>CodeQuest</a:t>
            </a:r>
            <a:r>
              <a:rPr dirty="0"/>
              <a:t> 2025 requests a soft-computing solution that assigns 40 ICU beds to 150 patients, maximizing survival benefit, balancing nurse workload, and handling uncertainty in patient data.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Key objectives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1. Assign ICU beds optimally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2. Maximize survival score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3. Balance nurse workload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4. Prioritize critical patients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2. Data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400" dirty="0"/>
          </a:p>
          <a:p>
            <a:pPr lvl="1">
              <a:defRPr sz="2400">
                <a:latin typeface="Times New Roman"/>
              </a:defRPr>
            </a:pPr>
            <a:r>
              <a:rPr sz="1800" dirty="0"/>
              <a:t> Synthetic yet realistic dataset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Located under `data/`: `patients.csv` (150 rows) and `beds.csv` (40 rows).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Generated via `scripts/generate_dataset.py`, which is grounded in SCCM Fact &amp; Figures, CDC ICU surveillance, and MIMIC-IV/</a:t>
            </a:r>
            <a:r>
              <a:rPr sz="1800" dirty="0" err="1"/>
              <a:t>eICU</a:t>
            </a:r>
            <a:r>
              <a:rPr sz="1800" dirty="0"/>
              <a:t> distributions.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Patient features include demographics, comorbidities, SOFA/APACHE-II, diagnosis groups, ventilator/dialysis needs and probabilities, lab values, LOS predictions, risk and recommendation scores, nurse intensity, and data uncertainty.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Bed features capture ICU type, specialty, ventilator/dialysis readiness, nurse capacity, isolation, and monitoring.</a:t>
            </a:r>
          </a:p>
          <a:p>
            <a:pPr marL="457200" lvl="1" indent="0">
              <a:buNone/>
              <a:defRPr sz="2400">
                <a:latin typeface="Times New Roman"/>
              </a:defRPr>
            </a:pPr>
            <a:endParaRPr sz="1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3. Fuzzy Prioritization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lvl="1">
              <a:defRPr sz="2400">
                <a:latin typeface="Times New Roman"/>
              </a:defRPr>
            </a:pPr>
            <a:r>
              <a:rPr dirty="0"/>
              <a:t>Implemented in `</a:t>
            </a:r>
            <a:r>
              <a:rPr dirty="0" err="1"/>
              <a:t>src</a:t>
            </a:r>
            <a:r>
              <a:rPr dirty="0"/>
              <a:t>/fuzzy_priority.py`.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Uses triangular/trapezoidal membership functions for severity (SOFA/APACHE), stability (MAP/lactate), and certainty (uncertainty column).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Rule base examples: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IF severity high AND instability high → priority = critical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IF severity medium AND certainty high → priority = urgent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IF severity low AND stability high → priority = routine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4. Genetic Algorithm (GA)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400" dirty="0"/>
          </a:p>
          <a:p>
            <a:pPr lvl="1">
              <a:defRPr sz="2400">
                <a:latin typeface="Times New Roman"/>
              </a:defRPr>
            </a:pPr>
            <a:r>
              <a:rPr sz="1800" dirty="0"/>
              <a:t>Core logic in `</a:t>
            </a:r>
            <a:r>
              <a:rPr sz="1800" dirty="0" err="1"/>
              <a:t>src</a:t>
            </a:r>
            <a:r>
              <a:rPr sz="1800" dirty="0"/>
              <a:t>/ga_optimizer.py`.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Chromosome </a:t>
            </a:r>
            <a:r>
              <a:rPr sz="1800" dirty="0" err="1"/>
              <a:t>representati</a:t>
            </a:r>
            <a:r>
              <a:rPr lang="en-IN" sz="1800" dirty="0"/>
              <a:t>on</a:t>
            </a:r>
            <a:r>
              <a:rPr sz="1800" dirty="0"/>
              <a:t>: Array of length 40 (one gene per bed) storing patient IDs or `-1` (vacant). Repair operators ensure no duplicate patients.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Fitness function: Weighted sum of survival average, priority average, bed utilization, minus penalties for ventilator/dialysis violations, nurse overload, specialty mismatches, and unfair specialty distribution.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Operators: Tournament selection, uniform crossover with repair, and mutation (swap or reassign from priority pool). Initial population biased by fuzzy priority queue.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Outputs: Best chromosome, metrics (survival, priority, utilization, nurse ratio, penalties), conflict list, and a detailed assignment </a:t>
            </a:r>
            <a:r>
              <a:rPr sz="1800" dirty="0" err="1"/>
              <a:t>DataFrame</a:t>
            </a:r>
            <a:r>
              <a:rPr sz="1800" dirty="0"/>
              <a:t> describing each bed/patient match with reason codes.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5. Explainability (XAI)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 lvl="1">
              <a:defRPr sz="2400">
                <a:latin typeface="Times New Roman"/>
              </a:defRPr>
            </a:pPr>
            <a:r>
              <a:t>`src/xai.py` merges assignments with feature blocks to produce:</a:t>
            </a:r>
          </a:p>
          <a:p>
            <a:pPr lvl="1">
              <a:defRPr sz="2400">
                <a:latin typeface="Times New Roman"/>
              </a:defRPr>
            </a:pPr>
            <a:r>
              <a:t>Feature influence summary (average normalized severity, stability, resource demand, data quality).</a:t>
            </a:r>
          </a:p>
          <a:p>
            <a:pPr lvl="1">
              <a:defRPr sz="2400">
                <a:latin typeface="Times New Roman"/>
              </a:defRPr>
            </a:pPr>
            <a:r>
              <a:t>Priority mix (share of critical/urgent/routine assignments).</a:t>
            </a:r>
          </a:p>
          <a:p>
            <a:pPr lvl="1">
              <a:defRPr sz="2400">
                <a:latin typeface="Times New Roman"/>
              </a:defRPr>
            </a:pPr>
            <a:r>
              <a:t>Conflict log describing each specialty/equipment exception.</a:t>
            </a:r>
          </a:p>
          <a:p>
            <a:pPr lvl="1">
              <a:defRPr sz="2400">
                <a:latin typeface="Times New Roman"/>
              </a:defRPr>
            </a:pPr>
            <a:r>
              <a:t>Method explanation string combining metrics and fuzzy rationale, used in reports/UI.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6. Pipeline Runner &amp;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800" dirty="0"/>
          </a:p>
          <a:p>
            <a:pPr lvl="1">
              <a:defRPr sz="2400">
                <a:latin typeface="Times New Roman"/>
              </a:defRPr>
            </a:pPr>
            <a:r>
              <a:rPr sz="2000" dirty="0"/>
              <a:t>`</a:t>
            </a:r>
            <a:r>
              <a:rPr sz="2000" dirty="0" err="1"/>
              <a:t>src</a:t>
            </a:r>
            <a:r>
              <a:rPr sz="2000" dirty="0"/>
              <a:t>/run_pipeline.py` exposes two entry points: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`</a:t>
            </a:r>
            <a:r>
              <a:rPr sz="2000" i="1" dirty="0" err="1"/>
              <a:t>run_pipeline</a:t>
            </a:r>
            <a:r>
              <a:rPr lang="en-IN" sz="2000" i="1" dirty="0"/>
              <a:t>()</a:t>
            </a:r>
            <a:r>
              <a:rPr sz="2000" dirty="0"/>
              <a:t>` Python function returning `(</a:t>
            </a:r>
            <a:r>
              <a:rPr sz="2000" i="1" dirty="0" err="1"/>
              <a:t>assignments_df</a:t>
            </a:r>
            <a:r>
              <a:rPr sz="2000" i="1" dirty="0"/>
              <a:t>, </a:t>
            </a:r>
            <a:r>
              <a:rPr sz="2000" i="1" dirty="0" err="1"/>
              <a:t>report_dict</a:t>
            </a:r>
            <a:r>
              <a:rPr sz="2000" dirty="0"/>
              <a:t>)`. Facilitates programmatic or UI usage.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CLI via `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src.run_pipeline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--patients data/patients.csv --beds data/beds.csv --generations 120 --population 80 --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assignment_csv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out/assignments.csv --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report_json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out/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report.json</a:t>
            </a:r>
            <a:r>
              <a:rPr sz="2000" dirty="0"/>
              <a:t>`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CLI output: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CSV `</a:t>
            </a:r>
            <a:r>
              <a:rPr sz="2000" i="1" dirty="0"/>
              <a:t>out/assignments.csv</a:t>
            </a:r>
            <a:r>
              <a:rPr sz="2000" dirty="0"/>
              <a:t>` with bed-level decisions + reasons.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JSON `</a:t>
            </a:r>
            <a:r>
              <a:rPr sz="2000" i="1" dirty="0"/>
              <a:t>out/</a:t>
            </a:r>
            <a:r>
              <a:rPr sz="2000" i="1" dirty="0" err="1"/>
              <a:t>report.json</a:t>
            </a:r>
            <a:r>
              <a:rPr sz="2000" dirty="0"/>
              <a:t>` containing optimization metrics, method explanation, conflict-resolution log, and pointer to the CSV.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7. Streamlit Web 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endParaRPr dirty="0"/>
          </a:p>
          <a:p>
            <a:pPr lvl="1">
              <a:defRPr sz="2400">
                <a:latin typeface="Times New Roman"/>
              </a:defRPr>
            </a:pPr>
            <a:r>
              <a:rPr dirty="0"/>
              <a:t>Located at `app/streamlit_app.py`.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Features: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Gradient-themed minimalist UI with card layout.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File uploaders for patient/bed CSVs (defaults fall back to `data/`).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Sidebar sliders for GA generations and population, and </a:t>
            </a:r>
            <a:r>
              <a:rPr sz="1900" dirty="0"/>
              <a:t>verbose</a:t>
            </a:r>
            <a:r>
              <a:rPr dirty="0"/>
              <a:t> toggle for console logs.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Metrics panel, plain-language summary, detailed table, narrative explanations for each patient, conflict log context, and three download buttons (assignments, report, layman explanations).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8. Outputs &amp;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800" dirty="0"/>
          </a:p>
          <a:p>
            <a:pPr marL="457200" lvl="1" indent="0">
              <a:buNone/>
              <a:defRPr sz="2400">
                <a:latin typeface="Times New Roman"/>
              </a:defRPr>
            </a:pPr>
            <a:r>
              <a:rPr sz="2000" dirty="0"/>
              <a:t>1. Assignment CSV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Each row includes bed info, assigned patient ID, patient specialty, priority/survival scores, ventilator/dialysis needs, nurse intensity, and human-readable reason (e.g., “specialty match; ventilator provided; priority 0.82”).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Vacant beds are explicitly labeled with explanation.</a:t>
            </a:r>
            <a:endParaRPr lang="en-IN" sz="2000" dirty="0"/>
          </a:p>
          <a:p>
            <a:pPr marL="457200" lvl="1" indent="0">
              <a:buNone/>
              <a:defRPr sz="2400">
                <a:latin typeface="Times New Roman"/>
              </a:defRPr>
            </a:pPr>
            <a:r>
              <a:rPr lang="en-IN" sz="2000" dirty="0"/>
              <a:t>2. Report JSON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`</a:t>
            </a:r>
            <a:r>
              <a:rPr sz="2000" dirty="0" err="1"/>
              <a:t>optimization_score</a:t>
            </a:r>
            <a:r>
              <a:rPr sz="2000" dirty="0"/>
              <a:t>`: survival/priority averages, utilization, nurse ratio, penalty breakdowns.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`</a:t>
            </a:r>
            <a:r>
              <a:rPr sz="2000" dirty="0" err="1"/>
              <a:t>method_explanation</a:t>
            </a:r>
            <a:r>
              <a:rPr sz="2000" dirty="0"/>
              <a:t>`: prose summary referencing </a:t>
            </a:r>
            <a:r>
              <a:rPr sz="2000" dirty="0" err="1"/>
              <a:t>fuzzy+GA</a:t>
            </a:r>
            <a:r>
              <a:rPr sz="2000" dirty="0"/>
              <a:t> hybrid approach and metric values.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9. Extending or Customizing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A322304-E125-BA34-E699-B1047C8EA1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7984738"/>
              </p:ext>
            </p:extLst>
          </p:nvPr>
        </p:nvGraphicFramePr>
        <p:xfrm>
          <a:off x="729201" y="1577052"/>
          <a:ext cx="7685598" cy="45722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842799">
                  <a:extLst>
                    <a:ext uri="{9D8B030D-6E8A-4147-A177-3AD203B41FA5}">
                      <a16:colId xmlns:a16="http://schemas.microsoft.com/office/drawing/2014/main" val="415231558"/>
                    </a:ext>
                  </a:extLst>
                </a:gridCol>
                <a:gridCol w="3842799">
                  <a:extLst>
                    <a:ext uri="{9D8B030D-6E8A-4147-A177-3AD203B41FA5}">
                      <a16:colId xmlns:a16="http://schemas.microsoft.com/office/drawing/2014/main" val="1590886555"/>
                    </a:ext>
                  </a:extLst>
                </a:gridCol>
              </a:tblGrid>
              <a:tr h="341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</a:t>
                      </a:r>
                      <a:endParaRPr lang="en-IN" sz="1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Suggested Action</a:t>
                      </a:r>
                      <a:endParaRPr lang="en-I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2279470033"/>
                  </a:ext>
                </a:extLst>
              </a:tr>
              <a:tr h="13663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Enforce strict specialty matches</a:t>
                      </a:r>
                      <a:endParaRPr lang="en-IN" sz="1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Increase the specialty-mismatch penalty in </a:t>
                      </a:r>
                      <a:r>
                        <a:rPr lang="en-US" sz="17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BedAssignmentGA</a:t>
                      </a: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._evaluate or filter candidates in _</a:t>
                      </a:r>
                      <a:r>
                        <a:rPr lang="en-US" sz="17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select_candidate_for_bed</a:t>
                      </a: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so only matching specialties are considered.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2264477912"/>
                  </a:ext>
                </a:extLst>
              </a:tr>
              <a:tr h="85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Different hospital census</a:t>
                      </a:r>
                      <a:endParaRPr lang="en-I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Adjust the dataset-generation constants or load real hospital CSVs. The pipeline fully supports non-synthetic data.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3973150100"/>
                  </a:ext>
                </a:extLst>
              </a:tr>
              <a:tr h="85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Alternate soft-computing method</a:t>
                      </a:r>
                      <a:endParaRPr lang="en-I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Replace the genetic algorithm with PSO or ACO in ga_optimizer.py while keeping the fuzzy scoring layer.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1770816214"/>
                  </a:ext>
                </a:extLst>
              </a:tr>
              <a:tr h="11101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Visualization</a:t>
                      </a:r>
                      <a:endParaRPr lang="en-I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Add matplotlib/</a:t>
                      </a:r>
                      <a:r>
                        <a:rPr lang="en-US" sz="17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plotly</a:t>
                      </a: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visuals — such as bed-use bar charts or nurse-load histograms — either in CLI reports or the </a:t>
                      </a:r>
                      <a:r>
                        <a:rPr lang="en-US" sz="17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Streamlit</a:t>
                      </a: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UI.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3228958558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10. Quick Start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lang="en-IN" sz="2800" dirty="0"/>
          </a:p>
          <a:p>
            <a:pPr lvl="1">
              <a:defRPr sz="2400">
                <a:latin typeface="Times New Roman"/>
              </a:defRPr>
            </a:pPr>
            <a:r>
              <a:rPr lang="en-IN" sz="2000" dirty="0"/>
              <a:t>1. Install dependencies (Python ≥3.9, pandas, </a:t>
            </a:r>
            <a:r>
              <a:rPr lang="en-IN" sz="2000" dirty="0" err="1"/>
              <a:t>numpy</a:t>
            </a:r>
            <a:r>
              <a:rPr lang="en-IN" sz="2000" dirty="0"/>
              <a:t>, </a:t>
            </a:r>
            <a:r>
              <a:rPr lang="en-IN" sz="2000" dirty="0" err="1"/>
              <a:t>streamlit</a:t>
            </a:r>
            <a:r>
              <a:rPr lang="en-IN" sz="2000" dirty="0"/>
              <a:t>, etc.).</a:t>
            </a:r>
          </a:p>
          <a:p>
            <a:pPr lvl="1">
              <a:defRPr sz="2400">
                <a:latin typeface="Times New Roman"/>
              </a:defRPr>
            </a:pPr>
            <a:r>
              <a:rPr lang="en-IN" sz="2000" dirty="0"/>
              <a:t>2. Generate or load data(`python scripts/generate_dataset.py` or replace CSVs).</a:t>
            </a:r>
          </a:p>
          <a:p>
            <a:pPr lvl="1">
              <a:defRPr sz="2400">
                <a:latin typeface="Times New Roman"/>
              </a:defRPr>
            </a:pPr>
            <a:r>
              <a:rPr lang="en-IN" sz="2000" dirty="0"/>
              <a:t>3. Run CLI to validate pipeline and produce baseline outputs.</a:t>
            </a:r>
          </a:p>
          <a:p>
            <a:pPr lvl="1">
              <a:defRPr sz="2400">
                <a:latin typeface="Times New Roman"/>
              </a:defRPr>
            </a:pPr>
            <a:r>
              <a:rPr lang="en-IN" sz="2000" dirty="0"/>
              <a:t>4. Launch </a:t>
            </a:r>
            <a:r>
              <a:rPr lang="en-IN" sz="2000" dirty="0" err="1"/>
              <a:t>Streamlit</a:t>
            </a:r>
            <a:r>
              <a:rPr lang="en-IN" sz="2000" dirty="0"/>
              <a:t> app for interactive use and plain-language reporting.</a:t>
            </a:r>
          </a:p>
          <a:p>
            <a:pPr lvl="1">
              <a:defRPr sz="2400">
                <a:latin typeface="Times New Roman"/>
              </a:defRPr>
            </a:pPr>
            <a:r>
              <a:rPr lang="en-IN" sz="2000" dirty="0"/>
              <a:t>5. Review conflict log and adjust penalties/constraints to match hospital policy.</a:t>
            </a:r>
          </a:p>
          <a:p>
            <a:pPr lvl="1">
              <a:defRPr sz="2400">
                <a:latin typeface="Times New Roman"/>
              </a:defRPr>
            </a:pPr>
            <a:r>
              <a:rPr lang="en-IN" sz="2000" dirty="0"/>
              <a:t>6. Document decisions using the generated CSV/JSON/layman explanation exports.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9FA7F-1A87-CCCF-5704-B6530B528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53F84-CED9-A4AE-9764-F6C0475A1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rPr lang="en-US" dirty="0"/>
              <a:t>11. Conclusion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C2056-D0DB-69A5-F831-C623122AA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Hybrid GA + fuzzy + XAI pipeline converts ICU census data into transparent, auditable bed assignments within minutes.</a:t>
            </a:r>
          </a:p>
          <a:p>
            <a:pPr algn="just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snapshot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Typical runs achieve ~0.43 survival score, ~0.56 priority score, 100% bed utilization, and nurse load ratio &lt;1.0 while tracking conflicts.</a:t>
            </a:r>
          </a:p>
          <a:p>
            <a:pPr algn="just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Actionability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Plain-language explanations, CSV/JSON exports, and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 let clinicians and ops teams validate or adjust decisions quickly.</a:t>
            </a:r>
          </a:p>
          <a:p>
            <a:pPr algn="just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Extensibility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Swap datasets, retune penalties, or plug new metaheuristics without rewriting the workflow—ideal for future ICU demand scenarios.</a:t>
            </a:r>
          </a:p>
        </p:txBody>
      </p:sp>
    </p:spTree>
    <p:extLst>
      <p:ext uri="{BB962C8B-B14F-4D97-AF65-F5344CB8AC3E}">
        <p14:creationId xmlns:p14="http://schemas.microsoft.com/office/powerpoint/2010/main" val="25976047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1EC97-26C7-F667-149C-CC92A4AD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87E8F7F-87A2-E9E4-21AE-AB03D5660369}"/>
              </a:ext>
            </a:extLst>
          </p:cNvPr>
          <p:cNvSpPr txBox="1"/>
          <p:nvPr/>
        </p:nvSpPr>
        <p:spPr>
          <a:xfrm>
            <a:off x="429397" y="2644170"/>
            <a:ext cx="828520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9600" dirty="0">
                <a:latin typeface="Montserrat" panose="00000500000000000000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419606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1147</Words>
  <Application>Microsoft Office PowerPoint</Application>
  <PresentationFormat>On-screen Show (4:3)</PresentationFormat>
  <Paragraphs>90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Courier New</vt:lpstr>
      <vt:lpstr>Montserrat</vt:lpstr>
      <vt:lpstr>Times New Roman</vt:lpstr>
      <vt:lpstr>Office Theme</vt:lpstr>
      <vt:lpstr>ICU Bed Assignment Optimization</vt:lpstr>
      <vt:lpstr>1. Problem Context</vt:lpstr>
      <vt:lpstr>2. Data Layer</vt:lpstr>
      <vt:lpstr>3. Fuzzy Prioritization Layer</vt:lpstr>
      <vt:lpstr>4. Genetic Algorithm (GA) Optimization</vt:lpstr>
      <vt:lpstr>5. Explainability (XAI)</vt:lpstr>
      <vt:lpstr>6. Pipeline Runner &amp; CLI</vt:lpstr>
      <vt:lpstr>7. Streamlit Web App</vt:lpstr>
      <vt:lpstr>8. Outputs &amp; Interpretation</vt:lpstr>
      <vt:lpstr>9. Extending or Customizing</vt:lpstr>
      <vt:lpstr>10. Quick Start Checklist</vt:lpstr>
      <vt:lpstr>11. Conclusion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Jasmeet Kaur</cp:lastModifiedBy>
  <cp:revision>5</cp:revision>
  <dcterms:created xsi:type="dcterms:W3CDTF">2013-01-27T09:14:16Z</dcterms:created>
  <dcterms:modified xsi:type="dcterms:W3CDTF">2025-11-15T07:20:15Z</dcterms:modified>
  <cp:category/>
</cp:coreProperties>
</file>