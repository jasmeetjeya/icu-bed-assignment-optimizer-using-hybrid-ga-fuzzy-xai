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122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smeetjeya/ICU-Bed-Assignment-Optimizer-Using-Hybrid-GA-Fuzzy-XAI/setting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0000"/>
                </a:solidFill>
                <a:latin typeface="Times New Roman"/>
              </a:defRPr>
            </a:pPr>
            <a:r>
              <a:rPr dirty="0"/>
              <a:t>ICU Bed Assignment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199"/>
            <a:ext cx="6400800" cy="2434281"/>
          </a:xfrm>
        </p:spPr>
        <p:txBody>
          <a:bodyPr>
            <a:normAutofit fontScale="85000" lnSpcReduction="20000"/>
          </a:bodyPr>
          <a:lstStyle/>
          <a:p>
            <a:pPr>
              <a:defRPr>
                <a:latin typeface="Times New Roman"/>
              </a:defRPr>
            </a:pPr>
            <a:r>
              <a:rPr lang="en-IN" dirty="0"/>
              <a:t>Project Overview</a:t>
            </a:r>
          </a:p>
          <a:p>
            <a:pPr>
              <a:lnSpc>
                <a:spcPct val="170000"/>
              </a:lnSpc>
              <a:defRPr>
                <a:latin typeface="Times New Roman"/>
              </a:defRPr>
            </a:pPr>
            <a:r>
              <a:rPr lang="en-IN" b="1" dirty="0"/>
              <a:t>Rohan R </a:t>
            </a:r>
            <a:r>
              <a:rPr lang="en-IN" b="1" dirty="0" err="1"/>
              <a:t>Gadgimata</a:t>
            </a:r>
            <a:r>
              <a:rPr lang="en-IN" b="1" dirty="0"/>
              <a:t> (12518040)</a:t>
            </a:r>
            <a:br>
              <a:rPr lang="en-IN" dirty="0"/>
            </a:br>
            <a:r>
              <a:rPr lang="en-IN" b="1" dirty="0" err="1"/>
              <a:t>Labhesh</a:t>
            </a:r>
            <a:r>
              <a:rPr lang="en-IN" b="1" dirty="0"/>
              <a:t> </a:t>
            </a:r>
            <a:r>
              <a:rPr lang="en-IN" b="1" dirty="0" err="1"/>
              <a:t>Phull</a:t>
            </a:r>
            <a:r>
              <a:rPr lang="en-IN" b="1" dirty="0"/>
              <a:t> (12520009)</a:t>
            </a:r>
            <a:br>
              <a:rPr lang="en-IN" dirty="0"/>
            </a:br>
            <a:r>
              <a:rPr lang="en-IN" b="1" dirty="0"/>
              <a:t>Jasmeet Kaur (12520018)</a:t>
            </a:r>
          </a:p>
          <a:p>
            <a:pPr>
              <a:lnSpc>
                <a:spcPct val="170000"/>
              </a:lnSpc>
              <a:defRPr>
                <a:latin typeface="Times New Roman"/>
              </a:defRPr>
            </a:pP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5220B6-16B8-6FA7-B650-66BA744C468C}"/>
              </a:ext>
            </a:extLst>
          </p:cNvPr>
          <p:cNvSpPr txBox="1"/>
          <p:nvPr/>
        </p:nvSpPr>
        <p:spPr>
          <a:xfrm>
            <a:off x="568411" y="6314301"/>
            <a:ext cx="80071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https://github.com/jasmeetjeya/ICU-Bed-Assignment-Optimizer-Using-Hybrid-GA-Fuzzy-XAI/settings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0000"/>
                </a:solidFill>
                <a:latin typeface="Times New Roman"/>
              </a:defRPr>
            </a:pPr>
            <a:r>
              <a:t>1. Problem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defRPr sz="2400">
                <a:latin typeface="Times New Roman"/>
              </a:defRPr>
            </a:pPr>
            <a:r>
              <a:rPr dirty="0"/>
              <a:t>Competition brief: Cognitive </a:t>
            </a:r>
            <a:r>
              <a:rPr dirty="0" err="1"/>
              <a:t>CodeQuest</a:t>
            </a:r>
            <a:r>
              <a:rPr dirty="0"/>
              <a:t> 2025 requests a soft-computing solution that assigns 40 ICU beds to 150 patients, maximizing survival benefit, balancing nurse workload, and handling uncertainty in patient data.</a:t>
            </a:r>
          </a:p>
          <a:p>
            <a:pPr lvl="1">
              <a:defRPr sz="2400">
                <a:latin typeface="Times New Roman"/>
              </a:defRPr>
            </a:pPr>
            <a:r>
              <a:rPr dirty="0"/>
              <a:t>Key objectives</a:t>
            </a:r>
          </a:p>
          <a:p>
            <a:pPr lvl="1">
              <a:defRPr sz="2400">
                <a:latin typeface="Times New Roman"/>
              </a:defRPr>
            </a:pPr>
            <a:r>
              <a:rPr dirty="0"/>
              <a:t>1. Assign ICU beds optimally</a:t>
            </a:r>
          </a:p>
          <a:p>
            <a:pPr lvl="1">
              <a:defRPr sz="2400">
                <a:latin typeface="Times New Roman"/>
              </a:defRPr>
            </a:pPr>
            <a:r>
              <a:rPr dirty="0"/>
              <a:t>2. Maximize survival score</a:t>
            </a:r>
          </a:p>
          <a:p>
            <a:pPr lvl="1">
              <a:defRPr sz="2400">
                <a:latin typeface="Times New Roman"/>
              </a:defRPr>
            </a:pPr>
            <a:r>
              <a:rPr dirty="0"/>
              <a:t>3. Balance nurse workload</a:t>
            </a:r>
          </a:p>
          <a:p>
            <a:pPr lvl="1">
              <a:defRPr sz="2400">
                <a:latin typeface="Times New Roman"/>
              </a:defRPr>
            </a:pPr>
            <a:r>
              <a:rPr dirty="0"/>
              <a:t>4. Prioritize critical patients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0000"/>
                </a:solidFill>
                <a:latin typeface="Times New Roman"/>
              </a:defRPr>
            </a:pPr>
            <a:r>
              <a:t>2. Data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400" dirty="0"/>
          </a:p>
          <a:p>
            <a:pPr lvl="1">
              <a:defRPr sz="2400">
                <a:latin typeface="Times New Roman"/>
              </a:defRPr>
            </a:pPr>
            <a:r>
              <a:rPr sz="1800" dirty="0"/>
              <a:t> Synthetic yet realistic dataset</a:t>
            </a:r>
          </a:p>
          <a:p>
            <a:pPr lvl="1">
              <a:defRPr sz="2400">
                <a:latin typeface="Times New Roman"/>
              </a:defRPr>
            </a:pPr>
            <a:r>
              <a:rPr sz="1800" dirty="0"/>
              <a:t>Located under `data/`: `patients.csv` (150 rows) and `beds.csv` (40 rows).</a:t>
            </a:r>
          </a:p>
          <a:p>
            <a:pPr lvl="1">
              <a:defRPr sz="2400">
                <a:latin typeface="Times New Roman"/>
              </a:defRPr>
            </a:pPr>
            <a:r>
              <a:rPr sz="1800" dirty="0"/>
              <a:t>Generated via `scripts/generate_dataset.py`, which is grounded in SCCM Fact &amp; Figures, CDC ICU surveillance, and MIMIC-IV/</a:t>
            </a:r>
            <a:r>
              <a:rPr sz="1800" dirty="0" err="1"/>
              <a:t>eICU</a:t>
            </a:r>
            <a:r>
              <a:rPr sz="1800" dirty="0"/>
              <a:t> distributions.</a:t>
            </a:r>
          </a:p>
          <a:p>
            <a:pPr lvl="1">
              <a:defRPr sz="2400">
                <a:latin typeface="Times New Roman"/>
              </a:defRPr>
            </a:pPr>
            <a:r>
              <a:rPr sz="1800" dirty="0"/>
              <a:t>Patient features include demographics, comorbidities, SOFA/APACHE-II, diagnosis groups, ventilator/dialysis needs and probabilities, lab values, LOS predictions, risk and recommendation scores, nurse intensity, and data uncertainty.</a:t>
            </a:r>
          </a:p>
          <a:p>
            <a:pPr lvl="1">
              <a:defRPr sz="2400">
                <a:latin typeface="Times New Roman"/>
              </a:defRPr>
            </a:pPr>
            <a:r>
              <a:rPr sz="1800" dirty="0"/>
              <a:t>Bed features capture ICU type, specialty, ventilator/dialysis readiness, nurse capacity, isolation, and monitoring.</a:t>
            </a:r>
          </a:p>
          <a:p>
            <a:pPr marL="457200" lvl="1" indent="0">
              <a:buNone/>
              <a:defRPr sz="2400">
                <a:latin typeface="Times New Roman"/>
              </a:defRPr>
            </a:pPr>
            <a:endParaRPr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0000"/>
                </a:solidFill>
                <a:latin typeface="Times New Roman"/>
              </a:defRPr>
            </a:pPr>
            <a:r>
              <a:t>3. Fuzzy Prioritization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defRPr sz="2400">
                <a:latin typeface="Times New Roman"/>
              </a:defRPr>
            </a:pPr>
            <a:r>
              <a:rPr dirty="0"/>
              <a:t>Implemented in `</a:t>
            </a:r>
            <a:r>
              <a:rPr dirty="0" err="1"/>
              <a:t>src</a:t>
            </a:r>
            <a:r>
              <a:rPr dirty="0"/>
              <a:t>/fuzzy_priority.py`.</a:t>
            </a:r>
          </a:p>
          <a:p>
            <a:pPr lvl="1">
              <a:defRPr sz="2400">
                <a:latin typeface="Times New Roman"/>
              </a:defRPr>
            </a:pPr>
            <a:r>
              <a:rPr dirty="0"/>
              <a:t>Uses triangular/trapezoidal membership functions for severity (SOFA/APACHE), stability (MAP/lactate), and certainty (uncertainty column).</a:t>
            </a:r>
          </a:p>
          <a:p>
            <a:pPr lvl="1">
              <a:defRPr sz="2400">
                <a:latin typeface="Times New Roman"/>
              </a:defRPr>
            </a:pPr>
            <a:r>
              <a:rPr dirty="0"/>
              <a:t>Rule base examples:</a:t>
            </a:r>
          </a:p>
          <a:p>
            <a:pPr lvl="1">
              <a:defRPr sz="2400">
                <a:latin typeface="Times New Roman"/>
              </a:defRPr>
            </a:pPr>
            <a:r>
              <a:rPr dirty="0"/>
              <a:t>IF severity high AND instability high → priority = critical</a:t>
            </a:r>
          </a:p>
          <a:p>
            <a:pPr lvl="1">
              <a:defRPr sz="2400">
                <a:latin typeface="Times New Roman"/>
              </a:defRPr>
            </a:pPr>
            <a:r>
              <a:rPr dirty="0"/>
              <a:t>IF severity medium AND certainty high → priority = urgent</a:t>
            </a:r>
          </a:p>
          <a:p>
            <a:pPr lvl="1">
              <a:defRPr sz="2400">
                <a:latin typeface="Times New Roman"/>
              </a:defRPr>
            </a:pPr>
            <a:r>
              <a:rPr dirty="0"/>
              <a:t>IF severity low AND stability high → priority = routine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0000"/>
                </a:solidFill>
                <a:latin typeface="Times New Roman"/>
              </a:defRPr>
            </a:pPr>
            <a:r>
              <a:t>4. Genetic Algorithm (GA)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400" dirty="0"/>
          </a:p>
          <a:p>
            <a:pPr lvl="1">
              <a:defRPr sz="2400">
                <a:latin typeface="Times New Roman"/>
              </a:defRPr>
            </a:pPr>
            <a:r>
              <a:rPr sz="1800" dirty="0"/>
              <a:t>Core logic in `</a:t>
            </a:r>
            <a:r>
              <a:rPr sz="1800" dirty="0" err="1"/>
              <a:t>src</a:t>
            </a:r>
            <a:r>
              <a:rPr sz="1800" dirty="0"/>
              <a:t>/ga_optimizer.py`.</a:t>
            </a:r>
          </a:p>
          <a:p>
            <a:pPr lvl="1">
              <a:defRPr sz="2400">
                <a:latin typeface="Times New Roman"/>
              </a:defRPr>
            </a:pPr>
            <a:r>
              <a:rPr sz="1800" dirty="0"/>
              <a:t>Chromosome </a:t>
            </a:r>
            <a:r>
              <a:rPr sz="1800" dirty="0" err="1"/>
              <a:t>representati</a:t>
            </a:r>
            <a:r>
              <a:rPr lang="en-IN" sz="1800" dirty="0"/>
              <a:t>on</a:t>
            </a:r>
            <a:r>
              <a:rPr sz="1800" dirty="0"/>
              <a:t>: Array of length 40 (one gene per bed) storing patient IDs or `-1` (vacant). Repair operators ensure no duplicate patients.</a:t>
            </a:r>
          </a:p>
          <a:p>
            <a:pPr lvl="1">
              <a:defRPr sz="2400">
                <a:latin typeface="Times New Roman"/>
              </a:defRPr>
            </a:pPr>
            <a:r>
              <a:rPr sz="1800" dirty="0"/>
              <a:t>Fitness function: Weighted sum of survival average, priority average, bed utilization, minus penalties for ventilator/dialysis violations, nurse overload, specialty mismatches, and unfair specialty distribution.</a:t>
            </a:r>
          </a:p>
          <a:p>
            <a:pPr lvl="1">
              <a:defRPr sz="2400">
                <a:latin typeface="Times New Roman"/>
              </a:defRPr>
            </a:pPr>
            <a:r>
              <a:rPr sz="1800" dirty="0"/>
              <a:t>Operators: Tournament selection, uniform crossover with repair, and mutation (swap or reassign from priority pool). Initial population biased by fuzzy priority queue.</a:t>
            </a:r>
          </a:p>
          <a:p>
            <a:pPr lvl="1">
              <a:defRPr sz="2400">
                <a:latin typeface="Times New Roman"/>
              </a:defRPr>
            </a:pPr>
            <a:r>
              <a:rPr sz="1800" dirty="0"/>
              <a:t>Outputs: Best chromosome, metrics (survival, priority, utilization, nurse ratio, penalties), conflict list, and a detailed assignment </a:t>
            </a:r>
            <a:r>
              <a:rPr sz="1800" dirty="0" err="1"/>
              <a:t>DataFrame</a:t>
            </a:r>
            <a:r>
              <a:rPr sz="1800" dirty="0"/>
              <a:t> describing each bed/patient match with reason codes.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0000"/>
                </a:solidFill>
                <a:latin typeface="Times New Roman"/>
              </a:defRPr>
            </a:pPr>
            <a:r>
              <a:t>5. Explainability (XAI)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>
              <a:defRPr sz="2400">
                <a:latin typeface="Times New Roman"/>
              </a:defRPr>
            </a:pPr>
            <a:r>
              <a:t>`src/xai.py` merges assignments with feature blocks to produce:</a:t>
            </a:r>
          </a:p>
          <a:p>
            <a:pPr lvl="1">
              <a:defRPr sz="2400">
                <a:latin typeface="Times New Roman"/>
              </a:defRPr>
            </a:pPr>
            <a:r>
              <a:t>Feature influence summary (average normalized severity, stability, resource demand, data quality).</a:t>
            </a:r>
          </a:p>
          <a:p>
            <a:pPr lvl="1">
              <a:defRPr sz="2400">
                <a:latin typeface="Times New Roman"/>
              </a:defRPr>
            </a:pPr>
            <a:r>
              <a:t>Priority mix (share of critical/urgent/routine assignments).</a:t>
            </a:r>
          </a:p>
          <a:p>
            <a:pPr lvl="1">
              <a:defRPr sz="2400">
                <a:latin typeface="Times New Roman"/>
              </a:defRPr>
            </a:pPr>
            <a:r>
              <a:t>Conflict log describing each specialty/equipment exception.</a:t>
            </a:r>
          </a:p>
          <a:p>
            <a:pPr lvl="1">
              <a:defRPr sz="2400">
                <a:latin typeface="Times New Roman"/>
              </a:defRPr>
            </a:pPr>
            <a:r>
              <a:t>Method explanation string combining metrics and fuzzy rationale, used in reports/UI.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0000"/>
                </a:solidFill>
                <a:latin typeface="Times New Roman"/>
              </a:defRPr>
            </a:pPr>
            <a:r>
              <a:t>6. Pipeline Runner &amp;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800" dirty="0"/>
          </a:p>
          <a:p>
            <a:pPr lvl="1">
              <a:defRPr sz="2400">
                <a:latin typeface="Times New Roman"/>
              </a:defRPr>
            </a:pPr>
            <a:r>
              <a:rPr sz="2000" dirty="0"/>
              <a:t>`</a:t>
            </a:r>
            <a:r>
              <a:rPr sz="2000" dirty="0" err="1"/>
              <a:t>src</a:t>
            </a:r>
            <a:r>
              <a:rPr sz="2000" dirty="0"/>
              <a:t>/run_pipeline.py` exposes two entry points:</a:t>
            </a:r>
          </a:p>
          <a:p>
            <a:pPr lvl="1">
              <a:defRPr sz="2400">
                <a:latin typeface="Times New Roman"/>
              </a:defRPr>
            </a:pPr>
            <a:r>
              <a:rPr sz="2000" dirty="0"/>
              <a:t>`</a:t>
            </a:r>
            <a:r>
              <a:rPr sz="2000" i="1" dirty="0" err="1"/>
              <a:t>run_pipeline</a:t>
            </a:r>
            <a:r>
              <a:rPr lang="en-IN" sz="2000" i="1" dirty="0"/>
              <a:t>()</a:t>
            </a:r>
            <a:r>
              <a:rPr sz="2000" dirty="0"/>
              <a:t>` Python function returning `(</a:t>
            </a:r>
            <a:r>
              <a:rPr sz="2000" i="1" dirty="0" err="1"/>
              <a:t>assignments_df</a:t>
            </a:r>
            <a:r>
              <a:rPr sz="2000" i="1" dirty="0"/>
              <a:t>, </a:t>
            </a:r>
            <a:r>
              <a:rPr sz="2000" i="1" dirty="0" err="1"/>
              <a:t>report_dict</a:t>
            </a:r>
            <a:r>
              <a:rPr sz="2000" dirty="0"/>
              <a:t>)`. Facilitates programmatic or UI usage.</a:t>
            </a:r>
          </a:p>
          <a:p>
            <a:pPr lvl="1">
              <a:defRPr sz="2400">
                <a:latin typeface="Times New Roman"/>
              </a:defRPr>
            </a:pPr>
            <a:r>
              <a:rPr sz="2000" dirty="0"/>
              <a:t>CLI via `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python -m </a:t>
            </a:r>
            <a:r>
              <a:rPr lang="en-I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src.run_pipeline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--patients data/patients.csv --beds data/beds.csv --generations 120 --population 80 --</a:t>
            </a:r>
            <a:r>
              <a:rPr lang="en-I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assignment_csv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out/assignments.csv --</a:t>
            </a:r>
            <a:r>
              <a:rPr lang="en-I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report_json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out/</a:t>
            </a:r>
            <a:r>
              <a:rPr lang="en-I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report.json</a:t>
            </a:r>
            <a:r>
              <a:rPr sz="2000" dirty="0"/>
              <a:t>`</a:t>
            </a:r>
          </a:p>
          <a:p>
            <a:pPr lvl="1">
              <a:defRPr sz="2400">
                <a:latin typeface="Times New Roman"/>
              </a:defRPr>
            </a:pPr>
            <a:r>
              <a:rPr sz="2000" dirty="0"/>
              <a:t>CLI output:</a:t>
            </a:r>
          </a:p>
          <a:p>
            <a:pPr lvl="1">
              <a:defRPr sz="2400">
                <a:latin typeface="Times New Roman"/>
              </a:defRPr>
            </a:pPr>
            <a:r>
              <a:rPr sz="2000" dirty="0"/>
              <a:t>CSV `</a:t>
            </a:r>
            <a:r>
              <a:rPr sz="2000" i="1" dirty="0"/>
              <a:t>out/assignments.csv</a:t>
            </a:r>
            <a:r>
              <a:rPr sz="2000" dirty="0"/>
              <a:t>` with bed-level decisions + reasons.</a:t>
            </a:r>
          </a:p>
          <a:p>
            <a:pPr lvl="1">
              <a:defRPr sz="2400">
                <a:latin typeface="Times New Roman"/>
              </a:defRPr>
            </a:pPr>
            <a:r>
              <a:rPr sz="2000" dirty="0"/>
              <a:t>JSON `</a:t>
            </a:r>
            <a:r>
              <a:rPr sz="2000" i="1" dirty="0"/>
              <a:t>out/</a:t>
            </a:r>
            <a:r>
              <a:rPr sz="2000" i="1" dirty="0" err="1"/>
              <a:t>report.json</a:t>
            </a:r>
            <a:r>
              <a:rPr sz="2000" dirty="0"/>
              <a:t>` containing optimization metrics, method explanation, conflict-resolution log, and pointer to the CSV.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0000"/>
                </a:solidFill>
                <a:latin typeface="Times New Roman"/>
              </a:defRPr>
            </a:pPr>
            <a:r>
              <a:t>7. Streamlit Web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dirty="0"/>
          </a:p>
          <a:p>
            <a:pPr lvl="1">
              <a:defRPr sz="2400">
                <a:latin typeface="Times New Roman"/>
              </a:defRPr>
            </a:pPr>
            <a:r>
              <a:rPr dirty="0"/>
              <a:t>Located at `app/streamlit_app.py`.</a:t>
            </a:r>
          </a:p>
          <a:p>
            <a:pPr lvl="1">
              <a:defRPr sz="2400">
                <a:latin typeface="Times New Roman"/>
              </a:defRPr>
            </a:pPr>
            <a:r>
              <a:rPr dirty="0"/>
              <a:t>Features:</a:t>
            </a:r>
          </a:p>
          <a:p>
            <a:pPr lvl="1">
              <a:defRPr sz="2400">
                <a:latin typeface="Times New Roman"/>
              </a:defRPr>
            </a:pPr>
            <a:r>
              <a:rPr dirty="0"/>
              <a:t>Gradient-themed minimalist UI with card layout.</a:t>
            </a:r>
          </a:p>
          <a:p>
            <a:pPr lvl="1">
              <a:defRPr sz="2400">
                <a:latin typeface="Times New Roman"/>
              </a:defRPr>
            </a:pPr>
            <a:r>
              <a:rPr dirty="0"/>
              <a:t>File uploaders for patient/bed CSVs (defaults fall back to `data/`).</a:t>
            </a:r>
          </a:p>
          <a:p>
            <a:pPr lvl="1">
              <a:defRPr sz="2400">
                <a:latin typeface="Times New Roman"/>
              </a:defRPr>
            </a:pPr>
            <a:r>
              <a:rPr dirty="0"/>
              <a:t>Sidebar sliders for GA generations and population, and </a:t>
            </a:r>
            <a:r>
              <a:rPr sz="1900" dirty="0"/>
              <a:t>verbose</a:t>
            </a:r>
            <a:r>
              <a:rPr dirty="0"/>
              <a:t> toggle for console logs.</a:t>
            </a:r>
          </a:p>
          <a:p>
            <a:pPr lvl="1">
              <a:defRPr sz="2400">
                <a:latin typeface="Times New Roman"/>
              </a:defRPr>
            </a:pPr>
            <a:r>
              <a:rPr dirty="0"/>
              <a:t>Metrics panel, plain-language summary, detailed table, narrative explanations for each patient, conflict log context, and three download buttons (assignments, report, layman explanations).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0000"/>
                </a:solidFill>
                <a:latin typeface="Times New Roman"/>
              </a:defRPr>
            </a:pPr>
            <a:r>
              <a:t>8. Outputs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800" dirty="0"/>
          </a:p>
          <a:p>
            <a:pPr marL="457200" lvl="1" indent="0">
              <a:buNone/>
              <a:defRPr sz="2400">
                <a:latin typeface="Times New Roman"/>
              </a:defRPr>
            </a:pPr>
            <a:r>
              <a:rPr sz="2000" dirty="0"/>
              <a:t>1. Assignment CSV</a:t>
            </a:r>
          </a:p>
          <a:p>
            <a:pPr lvl="1">
              <a:defRPr sz="2400">
                <a:latin typeface="Times New Roman"/>
              </a:defRPr>
            </a:pPr>
            <a:r>
              <a:rPr sz="2000" dirty="0"/>
              <a:t>Each row includes bed info, assigned patient ID, patient specialty, priority/survival scores, ventilator/dialysis needs, nurse intensity, and human-readable reason (e.g., “specialty match; ventilator provided; priority 0.82”).</a:t>
            </a:r>
          </a:p>
          <a:p>
            <a:pPr lvl="1">
              <a:defRPr sz="2400">
                <a:latin typeface="Times New Roman"/>
              </a:defRPr>
            </a:pPr>
            <a:r>
              <a:rPr sz="2000" dirty="0"/>
              <a:t>Vacant beds are explicitly labeled with explanation.</a:t>
            </a:r>
            <a:endParaRPr lang="en-IN" sz="2000" dirty="0"/>
          </a:p>
          <a:p>
            <a:pPr marL="457200" lvl="1" indent="0">
              <a:buNone/>
              <a:defRPr sz="2400">
                <a:latin typeface="Times New Roman"/>
              </a:defRPr>
            </a:pPr>
            <a:r>
              <a:rPr lang="en-IN" sz="2000" dirty="0"/>
              <a:t>2. Report JSON</a:t>
            </a:r>
          </a:p>
          <a:p>
            <a:pPr lvl="1">
              <a:defRPr sz="2400">
                <a:latin typeface="Times New Roman"/>
              </a:defRPr>
            </a:pPr>
            <a:r>
              <a:rPr sz="2000" dirty="0"/>
              <a:t>`</a:t>
            </a:r>
            <a:r>
              <a:rPr sz="2000" dirty="0" err="1"/>
              <a:t>optimization_score</a:t>
            </a:r>
            <a:r>
              <a:rPr sz="2000" dirty="0"/>
              <a:t>`: survival/priority averages, utilization, nurse ratio, penalty breakdowns.</a:t>
            </a:r>
          </a:p>
          <a:p>
            <a:pPr lvl="1">
              <a:defRPr sz="2400">
                <a:latin typeface="Times New Roman"/>
              </a:defRPr>
            </a:pPr>
            <a:r>
              <a:rPr sz="2000" dirty="0"/>
              <a:t>`</a:t>
            </a:r>
            <a:r>
              <a:rPr sz="2000" dirty="0" err="1"/>
              <a:t>method_explanation</a:t>
            </a:r>
            <a:r>
              <a:rPr sz="2000" dirty="0"/>
              <a:t>`: prose summary referencing </a:t>
            </a:r>
            <a:r>
              <a:rPr sz="2000" dirty="0" err="1"/>
              <a:t>fuzzy+GA</a:t>
            </a:r>
            <a:r>
              <a:rPr sz="2000" dirty="0"/>
              <a:t> hybrid approach and metric values.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0000"/>
                </a:solidFill>
                <a:latin typeface="Times New Roman"/>
              </a:defRPr>
            </a:pPr>
            <a:r>
              <a:t>9. Extending or Customizing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A322304-E125-BA34-E699-B1047C8EA1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7984738"/>
              </p:ext>
            </p:extLst>
          </p:nvPr>
        </p:nvGraphicFramePr>
        <p:xfrm>
          <a:off x="729201" y="1577052"/>
          <a:ext cx="7685598" cy="45722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842799">
                  <a:extLst>
                    <a:ext uri="{9D8B030D-6E8A-4147-A177-3AD203B41FA5}">
                      <a16:colId xmlns:a16="http://schemas.microsoft.com/office/drawing/2014/main" val="415231558"/>
                    </a:ext>
                  </a:extLst>
                </a:gridCol>
                <a:gridCol w="3842799">
                  <a:extLst>
                    <a:ext uri="{9D8B030D-6E8A-4147-A177-3AD203B41FA5}">
                      <a16:colId xmlns:a16="http://schemas.microsoft.com/office/drawing/2014/main" val="1590886555"/>
                    </a:ext>
                  </a:extLst>
                </a:gridCol>
              </a:tblGrid>
              <a:tr h="341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</a:t>
                      </a:r>
                      <a:endParaRPr lang="en-IN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Suggested Action</a:t>
                      </a:r>
                      <a:endParaRPr lang="en-IN" sz="1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2279470033"/>
                  </a:ext>
                </a:extLst>
              </a:tr>
              <a:tr h="1366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Enforce strict specialty matches</a:t>
                      </a:r>
                      <a:endParaRPr lang="en-IN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 the specialty-mismatch penalty in </a:t>
                      </a:r>
                      <a:r>
                        <a:rPr lang="en-US" sz="1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BedAssignmentGA</a:t>
                      </a: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._evaluate or filter candidates in _</a:t>
                      </a:r>
                      <a:r>
                        <a:rPr lang="en-US" sz="1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select_candidate_for_bed</a:t>
                      </a: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 only matching specialties are considered.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2264477912"/>
                  </a:ext>
                </a:extLst>
              </a:tr>
              <a:tr h="853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Different hospital census</a:t>
                      </a:r>
                      <a:endParaRPr lang="en-IN" sz="1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Adjust the dataset-generation constants or load real hospital CSVs. The pipeline fully supports non-synthetic data.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3973150100"/>
                  </a:ext>
                </a:extLst>
              </a:tr>
              <a:tr h="853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Alternate soft-computing method</a:t>
                      </a:r>
                      <a:endParaRPr lang="en-IN" sz="1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 the genetic algorithm with PSO or ACO in ga_optimizer.py while keeping the fuzzy scoring layer.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1770816214"/>
                  </a:ext>
                </a:extLst>
              </a:tr>
              <a:tr h="1110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</a:t>
                      </a:r>
                      <a:endParaRPr lang="en-IN" sz="1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96" marR="85396" marT="42698" marB="42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matplotlib/</a:t>
                      </a:r>
                      <a:r>
                        <a:rPr lang="en-US" sz="1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plotly</a:t>
                      </a: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visuals — such as bed-use bar charts or nurse-load histograms — either in CLI reports or the </a:t>
                      </a:r>
                      <a:r>
                        <a:rPr lang="en-US" sz="1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UI.</a:t>
                      </a:r>
                    </a:p>
                  </a:txBody>
                  <a:tcPr marL="85396" marR="85396" marT="42698" marB="42698" anchor="ctr"/>
                </a:tc>
                <a:extLst>
                  <a:ext uri="{0D108BD9-81ED-4DB2-BD59-A6C34878D82A}">
                    <a16:rowId xmlns:a16="http://schemas.microsoft.com/office/drawing/2014/main" val="322895855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F0000"/>
                </a:solidFill>
                <a:latin typeface="Times New Roman"/>
              </a:defRPr>
            </a:pPr>
            <a:r>
              <a:t>10. Quick Start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800" dirty="0"/>
          </a:p>
          <a:p>
            <a:pPr lvl="1">
              <a:defRPr sz="2400">
                <a:latin typeface="Times New Roman"/>
              </a:defRPr>
            </a:pPr>
            <a:r>
              <a:rPr sz="2000" dirty="0"/>
              <a:t>1. Install dependencies (Python ≥3.9, pandas, </a:t>
            </a:r>
            <a:r>
              <a:rPr sz="2000" dirty="0" err="1"/>
              <a:t>numpy</a:t>
            </a:r>
            <a:r>
              <a:rPr sz="2000" dirty="0"/>
              <a:t>, </a:t>
            </a:r>
            <a:r>
              <a:rPr sz="2000" dirty="0" err="1"/>
              <a:t>streamlit</a:t>
            </a:r>
            <a:r>
              <a:rPr sz="2000" dirty="0"/>
              <a:t>, etc.).</a:t>
            </a:r>
          </a:p>
          <a:p>
            <a:pPr lvl="1">
              <a:defRPr sz="2400">
                <a:latin typeface="Times New Roman"/>
              </a:defRPr>
            </a:pPr>
            <a:r>
              <a:rPr sz="2000" dirty="0"/>
              <a:t>2. Generate or load data(`python scripts/generate_dataset.py` or replace CSVs).</a:t>
            </a:r>
          </a:p>
          <a:p>
            <a:pPr lvl="1">
              <a:defRPr sz="2400">
                <a:latin typeface="Times New Roman"/>
              </a:defRPr>
            </a:pPr>
            <a:r>
              <a:rPr sz="2000" dirty="0"/>
              <a:t>3. Run CLI to validate pipeline and produce baseline outputs.</a:t>
            </a:r>
          </a:p>
          <a:p>
            <a:pPr lvl="1">
              <a:defRPr sz="2400">
                <a:latin typeface="Times New Roman"/>
              </a:defRPr>
            </a:pPr>
            <a:r>
              <a:rPr sz="2000" dirty="0"/>
              <a:t>4. Launch </a:t>
            </a:r>
            <a:r>
              <a:rPr sz="2000" dirty="0" err="1"/>
              <a:t>Streamlit</a:t>
            </a:r>
            <a:r>
              <a:rPr sz="2000" dirty="0"/>
              <a:t> app for interactive use and plain-language reporting.</a:t>
            </a:r>
          </a:p>
          <a:p>
            <a:pPr lvl="1">
              <a:defRPr sz="2400">
                <a:latin typeface="Times New Roman"/>
              </a:defRPr>
            </a:pPr>
            <a:r>
              <a:rPr sz="2000" dirty="0"/>
              <a:t>5. Review conflict log and adjust penalties/constraints to match hospital policy.</a:t>
            </a:r>
          </a:p>
          <a:p>
            <a:pPr lvl="1">
              <a:defRPr sz="2400">
                <a:latin typeface="Times New Roman"/>
              </a:defRPr>
            </a:pPr>
            <a:r>
              <a:rPr sz="2000" dirty="0"/>
              <a:t>6. Document decisions using the generated CSV/JSON/layman explanation exports.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1EC97-26C7-F667-149C-CC92A4AD3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87E8F7F-87A2-E9E4-21AE-AB03D5660369}"/>
              </a:ext>
            </a:extLst>
          </p:cNvPr>
          <p:cNvSpPr txBox="1"/>
          <p:nvPr/>
        </p:nvSpPr>
        <p:spPr>
          <a:xfrm>
            <a:off x="429397" y="2644170"/>
            <a:ext cx="82852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dirty="0">
                <a:latin typeface="Montserrat" panose="000005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19606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1043</Words>
  <Application>Microsoft Office PowerPoint</Application>
  <PresentationFormat>On-screen Show (4:3)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Montserrat</vt:lpstr>
      <vt:lpstr>Times New Roman</vt:lpstr>
      <vt:lpstr>Office Theme</vt:lpstr>
      <vt:lpstr>ICU Bed Assignment Optimization</vt:lpstr>
      <vt:lpstr>1. Problem Context</vt:lpstr>
      <vt:lpstr>2. Data Layer</vt:lpstr>
      <vt:lpstr>3. Fuzzy Prioritization Layer</vt:lpstr>
      <vt:lpstr>4. Genetic Algorithm (GA) Optimization</vt:lpstr>
      <vt:lpstr>5. Explainability (XAI)</vt:lpstr>
      <vt:lpstr>6. Pipeline Runner &amp; CLI</vt:lpstr>
      <vt:lpstr>7. Streamlit Web App</vt:lpstr>
      <vt:lpstr>8. Outputs &amp; Interpretation</vt:lpstr>
      <vt:lpstr>9. Extending or Customizing</vt:lpstr>
      <vt:lpstr>10. Quick Start Checklist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Jasmeet Kaur</cp:lastModifiedBy>
  <cp:revision>4</cp:revision>
  <dcterms:created xsi:type="dcterms:W3CDTF">2013-01-27T09:14:16Z</dcterms:created>
  <dcterms:modified xsi:type="dcterms:W3CDTF">2025-11-15T07:12:13Z</dcterms:modified>
  <cp:category/>
</cp:coreProperties>
</file>